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7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Fabric SDLC Governance &amp; CI/CD</a:t>
            </a:r>
          </a:p>
          <a:p>
            <a:pPr>
              <a:defRPr sz="2000">
                <a:solidFill>
                  <a:srgbClr val="EAEAEA"/>
                </a:solidFill>
              </a:defRPr>
            </a:pPr>
            <a:r>
              <a:t>Purview Unified Catalog · Governance Workflows · Bulk-Import deploy across Dev/Test/Prod</a:t>
            </a:r>
          </a:p>
          <a:p>
            <a:pPr>
              <a:defRPr sz="1400">
                <a:solidFill>
                  <a:srgbClr val="EAEAEA"/>
                </a:solidFill>
              </a:defRPr>
            </a:pPr>
            <a:r>
              <a:t>Live demo  ·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7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Why Governance + CI/CD on Fabric</a:t>
            </a:r>
          </a:p>
          <a:p>
            <a:pPr>
              <a:defRPr sz="1200">
                <a:solidFill>
                  <a:srgbClr val="EAEAEA"/>
                </a:solidFill>
              </a:defRPr>
            </a:pPr>
            <a:r>
              <a:t>Customer pain points we're solving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</a:defRPr>
            </a:pPr>
            <a:r>
              <a:t>Fabric items (Notebooks, Pipelines, Warehouses, SemanticModels, Reports) live in workspaces — without SDLC, every change ships to prod.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</a:defRPr>
            </a:pPr>
            <a:r>
              <a:t>Manual promotion is error-prone — selective deploys break dependencies between items.</a:t>
            </a:r>
          </a:p>
          <a:p>
            <a:pPr lvl="1">
              <a:spcAft>
                <a:spcPts val="600"/>
              </a:spcAft>
              <a:defRPr sz="1600">
                <a:solidFill>
                  <a:srgbClr val="202020"/>
                </a:solidFill>
              </a:defRPr>
            </a:pPr>
            <a:r>
              <a:t>Bulk Import Item Definitions API + Git folder structure = repeatable, dependency-safe deploys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</a:defRPr>
            </a:pPr>
            <a:r>
              <a:t>Catalog drift — assets are created but never tagged, owned, or governed.</a:t>
            </a:r>
          </a:p>
          <a:p>
            <a:pPr lvl="1">
              <a:spcAft>
                <a:spcPts val="600"/>
              </a:spcAft>
              <a:defRPr sz="1600">
                <a:solidFill>
                  <a:srgbClr val="202020"/>
                </a:solidFill>
              </a:defRPr>
            </a:pPr>
            <a:r>
              <a:t>Purview Unified Catalog + governance workflows = approval gates on glossary, access, products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</a:defRPr>
            </a:pPr>
            <a:r>
              <a:t>Lineage is invisible — incidents take hours to root-cause.</a:t>
            </a:r>
          </a:p>
          <a:p>
            <a:pPr lvl="1">
              <a:spcAft>
                <a:spcPts val="600"/>
              </a:spcAft>
              <a:defRPr sz="1600">
                <a:solidFill>
                  <a:srgbClr val="202020"/>
                </a:solidFill>
              </a:defRPr>
            </a:pPr>
            <a:r>
              <a:t>Lineage_demo registers typed entities + relationships in Atlas; viewable in the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08080"/>
                </a:solidFill>
              </a:defRPr>
            </a:pPr>
            <a:r>
              <a:t>2 / 12  ·  Fabric SDLC Governance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7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Reference Architecture</a:t>
            </a:r>
          </a:p>
          <a:p>
            <a:pPr>
              <a:defRPr sz="1200">
                <a:solidFill>
                  <a:srgbClr val="EAEAEA"/>
                </a:solidFill>
              </a:defRPr>
            </a:pPr>
            <a:r>
              <a:t>Dev → Test → Prod, governed end-to-end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</a:defRPr>
            </a:pPr>
            <a:r>
              <a:t>Source of truth: Git repo (this repo) — domains, terms, CDEs, workflows, Fabric item defs all as code.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</a:defRPr>
            </a:pPr>
            <a:r>
              <a:t>Apply pipeline (Python scripts under fabric-sdlc-governance/scripts):</a:t>
            </a:r>
          </a:p>
          <a:p>
            <a:pPr lvl="1">
              <a:spcAft>
                <a:spcPts val="600"/>
              </a:spcAft>
              <a:defRPr sz="1600">
                <a:solidFill>
                  <a:srgbClr val="202020"/>
                </a:solidFill>
              </a:defRPr>
            </a:pPr>
            <a:r>
              <a:t>• governance_apply.py  → upserts domains / terms / CDEs into Purview UC</a:t>
            </a:r>
          </a:p>
          <a:p>
            <a:pPr lvl="1">
              <a:spcAft>
                <a:spcPts val="600"/>
              </a:spcAft>
              <a:defRPr sz="1600">
                <a:solidFill>
                  <a:srgbClr val="202020"/>
                </a:solidFill>
              </a:defRPr>
            </a:pPr>
            <a:r>
              <a:t>• purview_apply_workflows.py → registers approval workflows</a:t>
            </a:r>
          </a:p>
          <a:p>
            <a:pPr lvl="1">
              <a:spcAft>
                <a:spcPts val="600"/>
              </a:spcAft>
              <a:defRPr sz="1600">
                <a:solidFill>
                  <a:srgbClr val="202020"/>
                </a:solidFill>
              </a:defRPr>
            </a:pPr>
            <a:r>
              <a:t>• fabric_apply.py + fabric_populate_items.py → creates workspaces + items</a:t>
            </a:r>
          </a:p>
          <a:p>
            <a:pPr lvl="1">
              <a:spcAft>
                <a:spcPts val="600"/>
              </a:spcAft>
              <a:defRPr sz="1600">
                <a:solidFill>
                  <a:srgbClr val="202020"/>
                </a:solidFill>
              </a:defRPr>
            </a:pPr>
            <a:r>
              <a:t>• lineage_demo.py → registers Atlas lineage entities</a:t>
            </a:r>
          </a:p>
          <a:p>
            <a:pPr lvl="1">
              <a:spcAft>
                <a:spcPts val="600"/>
              </a:spcAft>
              <a:defRPr sz="1600">
                <a:solidFill>
                  <a:srgbClr val="202020"/>
                </a:solidFill>
              </a:defRPr>
            </a:pPr>
            <a:r>
              <a:t>• purview_apply_scans.py → triggers fabric-tenant scan (FabricMsi)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</a:defRPr>
            </a:pPr>
            <a:r>
              <a:t>Deploy pipeline (fabric-cicd/deploy-using-bulk-api.yml) — ADO calls the Fabric Bulk-Import API.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</a:defRPr>
            </a:pPr>
            <a:r>
              <a:t>Auth: SPN cert for governance APIs; SPN secret (ADO variable group) for Fabric deploy.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08080"/>
                </a:solidFill>
              </a:defRPr>
            </a:pPr>
            <a:r>
              <a:t>3 / 12  ·  Fabric SDLC Governance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7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Purview Unified Catalog — what we provisioned</a:t>
            </a:r>
          </a:p>
          <a:p>
            <a:pPr>
              <a:defRPr sz="1200">
                <a:solidFill>
                  <a:srgbClr val="EAEAEA"/>
                </a:solidFill>
              </a:defRPr>
            </a:pPr>
            <a:r>
              <a:t>API: /datagovernance/catalog · api-version=2026-03-20-preview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</a:defRPr>
            </a:pPr>
            <a:r>
              <a:t>49 business domains — 4 root × 3 envs (Dev/Test/Prod), 3-level nesting under Contoso Retail → Sales → Online Sales / Store Sales.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</a:defRPr>
            </a:pPr>
            <a:r>
              <a:t>50 glossary terms attached to domains.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</a:defRPr>
            </a:pPr>
            <a:r>
              <a:t>18 critical data elements (CDEs).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</a:defRPr>
            </a:pPr>
            <a:r>
              <a:t>Default glossary auto-created (id c9eb6b20…) to host the term-level workflows.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</a:defRPr>
            </a:pPr>
            <a:r>
              <a:t>All assets are code-driven (contracts/governance/*.yml + scripts/governance_apply.py).</a:t>
            </a:r>
          </a:p>
          <a:p>
            <a:pPr lvl="1">
              <a:spcAft>
                <a:spcPts val="600"/>
              </a:spcAft>
              <a:defRPr sz="1600">
                <a:solidFill>
                  <a:srgbClr val="202020"/>
                </a:solidFill>
              </a:defRPr>
            </a:pPr>
            <a:r>
              <a:t>Idempotent: re-running the script reconciles drift.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08080"/>
                </a:solidFill>
              </a:defRPr>
            </a:pPr>
            <a:r>
              <a:t>4 / 12  ·  Fabric SDLC Governance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7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Governance workflows we shipped</a:t>
            </a:r>
          </a:p>
          <a:p>
            <a:pPr>
              <a:defRPr sz="1200">
                <a:solidFill>
                  <a:srgbClr val="EAEAEA"/>
                </a:solidFill>
              </a:defRPr>
            </a:pPr>
            <a:r>
              <a:t>Visible under Purview portal →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</a:defRPr>
            </a:pPr>
            <a:r>
              <a:t>Create Glossary Term — approval gate before publish (trigger: when_term_creation_is_requested).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</a:defRPr>
            </a:pPr>
            <a:r>
              <a:t>Update Glossary Term — approval before edits go live (when_term_update_is_requested).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</a:defRPr>
            </a:pPr>
            <a:r>
              <a:t>Delete Glossary Term — approval before removal (when_term_deletion_is_requested).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</a:defRPr>
            </a:pPr>
            <a:r>
              <a:t>Each workflow:</a:t>
            </a:r>
          </a:p>
          <a:p>
            <a:pPr lvl="1">
              <a:spcAft>
                <a:spcPts val="600"/>
              </a:spcAft>
              <a:defRPr sz="1600">
                <a:solidFill>
                  <a:srgbClr val="202020"/>
                </a:solidFill>
              </a:defRPr>
            </a:pPr>
            <a:r>
              <a:t>• PendingOnAll approval assigned to the governance lead</a:t>
            </a:r>
          </a:p>
          <a:p>
            <a:pPr lvl="1">
              <a:spcAft>
                <a:spcPts val="600"/>
              </a:spcAft>
              <a:defRPr sz="1600">
                <a:solidFill>
                  <a:srgbClr val="202020"/>
                </a:solidFill>
              </a:defRPr>
            </a:pPr>
            <a:r>
              <a:t>• Email notification on approve / reject</a:t>
            </a:r>
          </a:p>
          <a:p>
            <a:pPr lvl="1">
              <a:spcAft>
                <a:spcPts val="600"/>
              </a:spcAft>
              <a:defRPr sz="1600">
                <a:solidFill>
                  <a:srgbClr val="202020"/>
                </a:solidFill>
              </a:defRPr>
            </a:pPr>
            <a:r>
              <a:t>• Underlying glossary action (CreateTerm / UpdateTerm / DeleteTerm) only runs on Approved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</a:defRPr>
            </a:pPr>
            <a:r>
              <a:t>Stored in .workflows.json for idempotent re-apply.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08080"/>
                </a:solidFill>
              </a:defRPr>
            </a:pPr>
            <a:r>
              <a:t>5 / 12  ·  Fabric SDLC Governance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7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Fabric workspaces &amp; SDLC layout</a:t>
            </a:r>
          </a:p>
          <a:p>
            <a:pPr>
              <a:defRPr sz="1200">
                <a:solidFill>
                  <a:srgbClr val="EAEAEA"/>
                </a:solidFill>
              </a:defRPr>
            </a:pPr>
            <a:r>
              <a:t>Three workspaces per environment, capacity ngfabricf2westus3001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</a:defRPr>
            </a:pPr>
            <a:r>
              <a:t>fabric-de-dev   — developers, Git-connected, source of truth.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</a:defRPr>
            </a:pPr>
            <a:r>
              <a:t>fabric-de-test  — CI deploy target, populated by Bulk-Import API.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</a:defRPr>
            </a:pPr>
            <a:r>
              <a:t>fabric-de-prod  — release target, gated by ADO approval.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</a:defRPr>
            </a:pPr>
            <a:r>
              <a:t>Each workspace pre-populated with:</a:t>
            </a:r>
          </a:p>
          <a:p>
            <a:pPr lvl="1">
              <a:spcAft>
                <a:spcPts val="600"/>
              </a:spcAft>
              <a:defRPr sz="1600">
                <a:solidFill>
                  <a:srgbClr val="202020"/>
                </a:solidFill>
              </a:defRPr>
            </a:pPr>
            <a:r>
              <a:t>• Notebook  nb_build_silver  (PySpark)</a:t>
            </a:r>
          </a:p>
          <a:p>
            <a:pPr lvl="1">
              <a:spcAft>
                <a:spcPts val="600"/>
              </a:spcAft>
              <a:defRPr sz="1600">
                <a:solidFill>
                  <a:srgbClr val="202020"/>
                </a:solidFill>
              </a:defRPr>
            </a:pPr>
            <a:r>
              <a:t>• Data Pipeline pl_silver_to_gold</a:t>
            </a:r>
          </a:p>
          <a:p>
            <a:pPr lvl="1">
              <a:spcAft>
                <a:spcPts val="600"/>
              </a:spcAft>
              <a:defRPr sz="1600">
                <a:solidFill>
                  <a:srgbClr val="202020"/>
                </a:solidFill>
              </a:defRPr>
            </a:pPr>
            <a:r>
              <a:t>• Warehouse wh_reporting</a:t>
            </a:r>
          </a:p>
          <a:p>
            <a:pPr lvl="1">
              <a:spcAft>
                <a:spcPts val="600"/>
              </a:spcAft>
              <a:defRPr sz="1600">
                <a:solidFill>
                  <a:srgbClr val="202020"/>
                </a:solidFill>
              </a:defRPr>
            </a:pPr>
            <a:r>
              <a:t>• SemanticModel + Report (deployed via the bulk API in this demo)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08080"/>
                </a:solidFill>
              </a:defRPr>
            </a:pPr>
            <a:r>
              <a:t>6 / 12  ·  Fabric SDLC Governance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7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fabric-de-dev — sample items</a:t>
            </a:r>
          </a:p>
          <a:p>
            <a:pPr>
              <a:defRPr sz="1200">
                <a:solidFill>
                  <a:srgbClr val="EAEAEA"/>
                </a:solidFill>
              </a:defRPr>
            </a:pPr>
            <a:r>
              <a:t>Surfaced in UC after a fabric-tenant 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</a:defRPr>
            </a:pPr>
            <a:r>
              <a:t>Notebook nb_build_silver — registered as fabric_notebook in Atlas; lineage edges to bronze→silver tables.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</a:defRPr>
            </a:pPr>
            <a:r>
              <a:t>Pipeline pl_silver_to_gold — fabric_pipeline; references downstream warehouse.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</a:defRPr>
            </a:pPr>
            <a:r>
              <a:t>Warehouse wh_reporting — fabric_warehouse; lineage destination.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</a:defRPr>
            </a:pPr>
            <a:r>
              <a:t>SemanticModel MyDataset / Report MyReport — pushed by the live bulk-import deploy.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</a:defRPr>
            </a:pPr>
            <a:r>
              <a:t>Scan: kind=FabricMsi against data source 'fabric-tenant' (run 6f2c9295-…).</a:t>
            </a:r>
          </a:p>
          <a:p>
            <a:pPr lvl="1">
              <a:spcAft>
                <a:spcPts val="600"/>
              </a:spcAft>
              <a:defRPr sz="1600">
                <a:solidFill>
                  <a:srgbClr val="202020"/>
                </a:solidFill>
              </a:defRPr>
            </a:pPr>
            <a:r>
              <a:t>UC URL → /datacatalog/governance/main/catalog/browseassettypes/sourcetypes/livedetail?…itemPath=%2Ffabric_workspace%2F2accb869-d5c3-4b89-8d8c-2dcd85576871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08080"/>
                </a:solidFill>
              </a:defRPr>
            </a:pPr>
            <a:r>
              <a:t>7 / 12  ·  Fabric SDLC Governance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7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Lineage example</a:t>
            </a:r>
          </a:p>
          <a:p>
            <a:pPr>
              <a:defRPr sz="1200">
                <a:solidFill>
                  <a:srgbClr val="EAEAEA"/>
                </a:solidFill>
              </a:defRPr>
            </a:pPr>
            <a:r>
              <a:t>Atlas entities registered by lineage_demo.py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</a:defRPr>
            </a:pPr>
            <a:r>
              <a:t>Typed entities across all 5 source kinds:</a:t>
            </a:r>
          </a:p>
          <a:p>
            <a:pPr lvl="1">
              <a:spcAft>
                <a:spcPts val="600"/>
              </a:spcAft>
              <a:defRPr sz="1600">
                <a:solidFill>
                  <a:srgbClr val="202020"/>
                </a:solidFill>
              </a:defRPr>
            </a:pPr>
            <a:r>
              <a:t>• azure_sql_table  customer_orders  (SQL)</a:t>
            </a:r>
          </a:p>
          <a:p>
            <a:pPr lvl="1">
              <a:spcAft>
                <a:spcPts val="600"/>
              </a:spcAft>
              <a:defRPr sz="1600">
                <a:solidFill>
                  <a:srgbClr val="202020"/>
                </a:solidFill>
              </a:defRPr>
            </a:pPr>
            <a:r>
              <a:t>• azure_postgresql_table  customers  (PG)</a:t>
            </a:r>
          </a:p>
          <a:p>
            <a:pPr lvl="1">
              <a:spcAft>
                <a:spcPts val="600"/>
              </a:spcAft>
              <a:defRPr sz="1600">
                <a:solidFill>
                  <a:srgbClr val="202020"/>
                </a:solidFill>
              </a:defRPr>
            </a:pPr>
            <a:r>
              <a:t>• azure_cosmos_db_container  orders  (Cosmos)</a:t>
            </a:r>
          </a:p>
          <a:p>
            <a:pPr lvl="1">
              <a:spcAft>
                <a:spcPts val="600"/>
              </a:spcAft>
              <a:defRPr sz="1600">
                <a:solidFill>
                  <a:srgbClr val="202020"/>
                </a:solidFill>
              </a:defRPr>
            </a:pPr>
            <a:r>
              <a:t>• azure_databricks_table  enrichment  (DBX)</a:t>
            </a:r>
          </a:p>
          <a:p>
            <a:pPr lvl="1">
              <a:spcAft>
                <a:spcPts val="600"/>
              </a:spcAft>
              <a:defRPr sz="1600">
                <a:solidFill>
                  <a:srgbClr val="202020"/>
                </a:solidFill>
              </a:defRPr>
            </a:pPr>
            <a:r>
              <a:t>• fabric_lakehouse_table  customer_orders_enriched  (Fabric)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</a:defRPr>
            </a:pPr>
            <a:r>
              <a:t>Process entities (Spark notebook + ADF pipeline) connect inputs → outputs.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</a:defRPr>
            </a:pPr>
            <a:r>
              <a:t>Renders end-to-end in the Purview portal Lineage tab; click any node to inspect schema + classifications.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08080"/>
                </a:solidFill>
              </a:defRPr>
            </a:pPr>
            <a:r>
              <a:t>8 / 12  ·  Fabric SDLC Governance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7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CI/CD with the Bulk Import Item Definitions API</a:t>
            </a:r>
          </a:p>
          <a:p>
            <a:pPr>
              <a:defRPr sz="1200">
                <a:solidFill>
                  <a:srgbClr val="EAEAEA"/>
                </a:solidFill>
              </a:defRPr>
            </a:pPr>
            <a:r>
              <a:t>learn.microsoft.com/en-us/fabric/cicd/tutorial-bulkapi-cicd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</a:defRPr>
            </a:pPr>
            <a:r>
              <a:t>1. Dev workspace synced to Git → item definitions land in repo (bulk-tutorial-dev/).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</a:defRPr>
            </a:pPr>
            <a:r>
              <a:t>2. ADO pipeline triggers on push to main.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</a:defRPr>
            </a:pPr>
            <a:r>
              <a:t>3. SPN client-credentials flow → Fabric API token.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</a:defRPr>
            </a:pPr>
            <a:r>
              <a:t>4. Walk source folder, base64-encode every file, build definitionParts[].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</a:defRPr>
            </a:pPr>
            <a:r>
              <a:t>5. POST /v1/workspaces/{id}/items/bulkImportDefinitions?beta=true.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</a:defRPr>
            </a:pPr>
            <a:r>
              <a:t>6. Capture x-ms-operation-id; poll /operations/{id}/result until importItemDefinitionsDetails appears.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</a:defRPr>
            </a:pPr>
            <a:r>
              <a:t>7. Same flow promotes Test → Prod with an ADO approval gate in between.</a:t>
            </a:r>
          </a:p>
          <a:p>
            <a:pPr lvl="1">
              <a:spcAft>
                <a:spcPts val="600"/>
              </a:spcAft>
              <a:defRPr sz="1600">
                <a:solidFill>
                  <a:srgbClr val="202020"/>
                </a:solidFill>
              </a:defRPr>
            </a:pPr>
            <a:r>
              <a:t>Dependency ordering handled server-side — no per-item sequencing in the pipeline.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08080"/>
                </a:solidFill>
              </a:defRPr>
            </a:pPr>
            <a:r>
              <a:t>9 / 12  ·  Fabric SDLC Governance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7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Live demo evidence</a:t>
            </a:r>
          </a:p>
          <a:p>
            <a:pPr>
              <a:defRPr sz="1200">
                <a:solidFill>
                  <a:srgbClr val="EAEAEA"/>
                </a:solidFill>
              </a:defRPr>
            </a:pPr>
            <a:r>
              <a:t>scripts/test-bulk-import-local.py against fabric-de-test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</a:defRPr>
            </a:pPr>
            <a:r>
              <a:t>workspace: fabric-de-test  id=bbf5a506-aab0-4039-b4dc-9290998e1bc6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</a:defRPr>
            </a:pPr>
            <a:r>
              <a:t>collected 16 parts from bulk-tutorial-dev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</a:defRPr>
            </a:pPr>
            <a:r>
              <a:t>POST 202  →  operation id 02deec96-1297-49a0-a006-c8aa8fb82b0b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</a:defRPr>
            </a:pPr>
            <a:r>
              <a:t>Result:</a:t>
            </a:r>
          </a:p>
          <a:p>
            <a:pPr lvl="1">
              <a:spcAft>
                <a:spcPts val="600"/>
              </a:spcAft>
              <a:defRPr sz="1600">
                <a:solidFill>
                  <a:srgbClr val="202020"/>
                </a:solidFill>
              </a:defRPr>
            </a:pPr>
            <a:r>
              <a:t>• MyDataset  (SemanticModel)  →  Create  Succeeded</a:t>
            </a:r>
          </a:p>
          <a:p>
            <a:pPr lvl="1">
              <a:spcAft>
                <a:spcPts val="600"/>
              </a:spcAft>
              <a:defRPr sz="1600">
                <a:solidFill>
                  <a:srgbClr val="202020"/>
                </a:solidFill>
              </a:defRPr>
            </a:pPr>
            <a:r>
              <a:t>• MyReport   (Report)         →  Create  Succeeded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</a:defRPr>
            </a:pPr>
            <a:r>
              <a:t>Reproduce locally:  python scripts/test-bulk-import-local.py --workspace fabric-de-test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</a:defRPr>
            </a:pPr>
            <a:r>
              <a:t>(falls back to az-user auth; for CI parity export AZURE_TENANT_ID / AZURE_CLIENT_ID / FABRIC_SPN_CLIENT_SECRET)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08080"/>
                </a:solidFill>
              </a:defRPr>
            </a:pPr>
            <a:r>
              <a:t>10 / 12  ·  Fabric SDLC Governance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7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Roles, gates &amp; guardrails</a:t>
            </a:r>
          </a:p>
          <a:p>
            <a:pPr>
              <a:defRPr sz="1200">
                <a:solidFill>
                  <a:srgbClr val="EAEAEA"/>
                </a:solidFill>
              </a:defRPr>
            </a:pPr>
            <a:r>
              <a:t>What stops a bad change from reaching prod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</a:defRPr>
            </a:pPr>
            <a:r>
              <a:t>Branch policy on main → required PR review.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</a:defRPr>
            </a:pPr>
            <a:r>
              <a:t>ADO environment 'fabric-prod' → manual approval before the prod stage runs.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</a:defRPr>
            </a:pPr>
            <a:r>
              <a:t>Purview term workflows → approval before glossary changes propagate to assets.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</a:defRPr>
            </a:pPr>
            <a:r>
              <a:t>SPN least-privilege:</a:t>
            </a:r>
          </a:p>
          <a:p>
            <a:pPr lvl="1">
              <a:spcAft>
                <a:spcPts val="600"/>
              </a:spcAft>
              <a:defRPr sz="1600">
                <a:solidFill>
                  <a:srgbClr val="202020"/>
                </a:solidFill>
              </a:defRPr>
            </a:pPr>
            <a:r>
              <a:t>• 47a48c18-… → cert auth, Contributor on dev/test/prod workspaces</a:t>
            </a:r>
          </a:p>
          <a:p>
            <a:pPr lvl="1">
              <a:spcAft>
                <a:spcPts val="600"/>
              </a:spcAft>
              <a:defRPr sz="1600">
                <a:solidFill>
                  <a:srgbClr val="202020"/>
                </a:solidFill>
              </a:defRPr>
            </a:pPr>
            <a:r>
              <a:t>• Workflow-administrator on Purview root collection (for user; SPN read-only for now)</a:t>
            </a:r>
          </a:p>
          <a:p>
            <a:pPr lvl="1">
              <a:spcAft>
                <a:spcPts val="600"/>
              </a:spcAft>
              <a:defRPr sz="1600">
                <a:solidFill>
                  <a:srgbClr val="202020"/>
                </a:solidFill>
              </a:defRPr>
            </a:pPr>
            <a:r>
              <a:t>• Data-source-administrator pending for SPN — manual grant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</a:defRPr>
            </a:pPr>
            <a:r>
              <a:t>Secrets: ADO variable group bulkapi-group (client secret marked secret).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08080"/>
                </a:solidFill>
              </a:defRPr>
            </a:pPr>
            <a:r>
              <a:t>11 / 12  ·  Fabric SDLC Governance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7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Next steps</a:t>
            </a:r>
          </a:p>
          <a:p>
            <a:pPr>
              <a:defRPr sz="1200">
                <a:solidFill>
                  <a:srgbClr val="EAEAEA"/>
                </a:solidFill>
              </a:defRPr>
            </a:pPr>
            <a:r>
              <a:t>What we'd recommend to harden this for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</a:defRPr>
            </a:pPr>
            <a:r>
              <a:t>Add a Build stage with fabric-cicd CLI (or fabric-cicd Python) to validate item defs before deploy.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</a:defRPr>
            </a:pPr>
            <a:r>
              <a:t>Wire pull-request validation: dry-run the bulk-import against an ephemeral scratch workspace.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</a:defRPr>
            </a:pPr>
            <a:r>
              <a:t>Grant the SPN data-source-administrator + workflow-administrator via metadataPolicies (currently manual).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</a:defRPr>
            </a:pPr>
            <a:r>
              <a:t>Add classifications + sensitivity labels on key columns (PII, PCI).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</a:defRPr>
            </a:pPr>
            <a:r>
              <a:t>Schedule the fabric-tenant scan weekly; alert on new high-sensitivity columns.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</a:defRPr>
            </a:pPr>
            <a:r>
              <a:t>Add the 4 straggler root domains cleanup to governance_apply.py drift-delete mode.</a:t>
            </a:r>
          </a:p>
          <a:p>
            <a:pPr>
              <a:spcAft>
                <a:spcPts val="600"/>
              </a:spcAft>
              <a:defRPr sz="1800">
                <a:solidFill>
                  <a:srgbClr val="202020"/>
                </a:solidFill>
              </a:defRPr>
            </a:pPr>
            <a:r>
              <a:t>Move the demo deck + screenshots into a customer-facing handover repo.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08080"/>
                </a:solidFill>
              </a:defRPr>
            </a:pPr>
            <a:r>
              <a:t>12 / 12  ·  Fabric SDLC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